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2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5418c8c19444cc" /><Relationship Type="http://schemas.openxmlformats.org/officeDocument/2006/relationships/extended-properties" Target="/docProps/app.xml" Id="R3c089dafd2fe46c1" /><Relationship Type="http://schemas.openxmlformats.org/officeDocument/2006/relationships/officeDocument" Target="/ppt/presentation.xml" Id="R080ab938b85d42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70a86197bd4354"/>
  </p:sldMasterIdLst>
  <p:notesMasterIdLst>
    <p:notesMasterId xmlns:r="http://schemas.openxmlformats.org/officeDocument/2006/relationships" r:id="R32c197757b69492f"/>
  </p:notesMasterIdLst>
  <p:sldIdLst>
    <p:sldId xmlns:r="http://schemas.openxmlformats.org/officeDocument/2006/relationships" id="256" r:id="R544d08c078da481d"/>
    <p:sldId xmlns:r="http://schemas.openxmlformats.org/officeDocument/2006/relationships" id="257" r:id="Rc2311959c2c14030"/>
    <p:sldId xmlns:r="http://schemas.openxmlformats.org/officeDocument/2006/relationships" id="258" r:id="R628e0f0e11e64722"/>
    <p:sldId xmlns:r="http://schemas.openxmlformats.org/officeDocument/2006/relationships" id="259" r:id="Rd7679ad3061f4784"/>
    <p:sldId xmlns:r="http://schemas.openxmlformats.org/officeDocument/2006/relationships" id="260" r:id="Racd3fd8286a6451f"/>
    <p:sldId xmlns:r="http://schemas.openxmlformats.org/officeDocument/2006/relationships" id="261" r:id="R9a27de0db373433c"/>
    <p:sldId xmlns:r="http://schemas.openxmlformats.org/officeDocument/2006/relationships" id="262" r:id="Rddd6ff1a3f19404d"/>
    <p:sldId xmlns:r="http://schemas.openxmlformats.org/officeDocument/2006/relationships" id="263" r:id="Rdd30eb66ac8046ff"/>
    <p:sldId xmlns:r="http://schemas.openxmlformats.org/officeDocument/2006/relationships" id="264" r:id="R366cecf8de59421a"/>
    <p:sldId xmlns:r="http://schemas.openxmlformats.org/officeDocument/2006/relationships" id="265" r:id="R1aab4dd05f26452f"/>
    <p:sldId xmlns:r="http://schemas.openxmlformats.org/officeDocument/2006/relationships" id="266" r:id="R31f1227708dc4ebd"/>
    <p:sldId xmlns:r="http://schemas.openxmlformats.org/officeDocument/2006/relationships" id="267" r:id="Raa439cc8613e410c"/>
    <p:sldId xmlns:r="http://schemas.openxmlformats.org/officeDocument/2006/relationships" id="268" r:id="R044c59d28e7747a9"/>
    <p:sldId xmlns:r="http://schemas.openxmlformats.org/officeDocument/2006/relationships" id="269" r:id="R6d429a15b70d425f"/>
    <p:sldId xmlns:r="http://schemas.openxmlformats.org/officeDocument/2006/relationships" id="270" r:id="Rc811153e17d3417e"/>
    <p:sldId xmlns:r="http://schemas.openxmlformats.org/officeDocument/2006/relationships" id="271" r:id="R796c2f5984e2467f"/>
    <p:sldId xmlns:r="http://schemas.openxmlformats.org/officeDocument/2006/relationships" id="272" r:id="R4a60541d05d14430"/>
    <p:sldId xmlns:r="http://schemas.openxmlformats.org/officeDocument/2006/relationships" id="273" r:id="R2493a83592014955"/>
    <p:sldId xmlns:r="http://schemas.openxmlformats.org/officeDocument/2006/relationships" id="274" r:id="R721cfc29b8c444fd"/>
    <p:sldId xmlns:r="http://schemas.openxmlformats.org/officeDocument/2006/relationships" id="275" r:id="R12fa2bab20354f52"/>
    <p:sldId xmlns:r="http://schemas.openxmlformats.org/officeDocument/2006/relationships" id="276" r:id="Rf1750a802b894d2b"/>
    <p:sldId xmlns:r="http://schemas.openxmlformats.org/officeDocument/2006/relationships" id="277" r:id="R358360b3f96e4c54"/>
    <p:sldId xmlns:r="http://schemas.openxmlformats.org/officeDocument/2006/relationships" id="278" r:id="R4c4c6f1148104bb6"/>
    <p:sldId xmlns:r="http://schemas.openxmlformats.org/officeDocument/2006/relationships" id="279" r:id="R603c31cef1a54294"/>
    <p:sldId xmlns:r="http://schemas.openxmlformats.org/officeDocument/2006/relationships" id="280" r:id="R0576c1df9c7c4424"/>
    <p:sldId xmlns:r="http://schemas.openxmlformats.org/officeDocument/2006/relationships" id="281" r:id="R6ff97a1ef48749b0"/>
    <p:sldId xmlns:r="http://schemas.openxmlformats.org/officeDocument/2006/relationships" id="282" r:id="Rce562184a7d54c73"/>
    <p:sldId xmlns:r="http://schemas.openxmlformats.org/officeDocument/2006/relationships" id="283" r:id="R530e865197a14053"/>
    <p:sldId xmlns:r="http://schemas.openxmlformats.org/officeDocument/2006/relationships" id="284" r:id="R6b613aa561744a5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a26efc04954545" /><Relationship Type="http://schemas.openxmlformats.org/officeDocument/2006/relationships/slideMaster" Target="/ppt/slideMasters/slideMaster1.xml" Id="R0170a86197bd4354" /><Relationship Type="http://schemas.openxmlformats.org/officeDocument/2006/relationships/notesMaster" Target="/ppt/notesMasters/notesMaster1.xml" Id="R32c197757b69492f" /><Relationship Type="http://schemas.openxmlformats.org/officeDocument/2006/relationships/presProps" Target="/ppt/presProps.xml" Id="R6fbe26808b784af1" /><Relationship Type="http://schemas.openxmlformats.org/officeDocument/2006/relationships/tableStyles" Target="/ppt/tableStyles.xml" Id="Rabcc0a7ac2b34a93" /><Relationship Type="http://schemas.openxmlformats.org/officeDocument/2006/relationships/slide" Target="/ppt/slides/slide1.xml" Id="R544d08c078da481d" /><Relationship Type="http://schemas.openxmlformats.org/officeDocument/2006/relationships/slide" Target="/ppt/slides/slide2.xml" Id="Rc2311959c2c14030" /><Relationship Type="http://schemas.openxmlformats.org/officeDocument/2006/relationships/slide" Target="/ppt/slides/slide3.xml" Id="R628e0f0e11e64722" /><Relationship Type="http://schemas.openxmlformats.org/officeDocument/2006/relationships/slide" Target="/ppt/slides/slide4.xml" Id="Rd7679ad3061f4784" /><Relationship Type="http://schemas.openxmlformats.org/officeDocument/2006/relationships/slide" Target="/ppt/slides/slide5.xml" Id="Racd3fd8286a6451f" /><Relationship Type="http://schemas.openxmlformats.org/officeDocument/2006/relationships/slide" Target="/ppt/slides/slide6.xml" Id="R9a27de0db373433c" /><Relationship Type="http://schemas.openxmlformats.org/officeDocument/2006/relationships/slide" Target="/ppt/slides/slide7.xml" Id="Rddd6ff1a3f19404d" /><Relationship Type="http://schemas.openxmlformats.org/officeDocument/2006/relationships/slide" Target="/ppt/slides/slide8.xml" Id="Rdd30eb66ac8046ff" /><Relationship Type="http://schemas.openxmlformats.org/officeDocument/2006/relationships/slide" Target="/ppt/slides/slide9.xml" Id="R366cecf8de59421a" /><Relationship Type="http://schemas.openxmlformats.org/officeDocument/2006/relationships/slide" Target="/ppt/slides/slide10.xml" Id="R1aab4dd05f26452f" /><Relationship Type="http://schemas.openxmlformats.org/officeDocument/2006/relationships/slide" Target="/ppt/slides/slide11.xml" Id="R31f1227708dc4ebd" /><Relationship Type="http://schemas.openxmlformats.org/officeDocument/2006/relationships/slide" Target="/ppt/slides/slide12.xml" Id="Raa439cc8613e410c" /><Relationship Type="http://schemas.openxmlformats.org/officeDocument/2006/relationships/slide" Target="/ppt/slides/slide13.xml" Id="R044c59d28e7747a9" /><Relationship Type="http://schemas.openxmlformats.org/officeDocument/2006/relationships/slide" Target="/ppt/slides/slide14.xml" Id="R6d429a15b70d425f" /><Relationship Type="http://schemas.openxmlformats.org/officeDocument/2006/relationships/slide" Target="/ppt/slides/slide15.xml" Id="Rc811153e17d3417e" /><Relationship Type="http://schemas.openxmlformats.org/officeDocument/2006/relationships/slide" Target="/ppt/slides/slide16.xml" Id="R796c2f5984e2467f" /><Relationship Type="http://schemas.openxmlformats.org/officeDocument/2006/relationships/slide" Target="/ppt/slides/slide17.xml" Id="R4a60541d05d14430" /><Relationship Type="http://schemas.openxmlformats.org/officeDocument/2006/relationships/slide" Target="/ppt/slides/slide18.xml" Id="R2493a83592014955" /><Relationship Type="http://schemas.openxmlformats.org/officeDocument/2006/relationships/slide" Target="/ppt/slides/slide19.xml" Id="R721cfc29b8c444fd" /><Relationship Type="http://schemas.openxmlformats.org/officeDocument/2006/relationships/slide" Target="/ppt/slides/slide20.xml" Id="R12fa2bab20354f52" /><Relationship Type="http://schemas.openxmlformats.org/officeDocument/2006/relationships/slide" Target="/ppt/slides/slide21.xml" Id="Rf1750a802b894d2b" /><Relationship Type="http://schemas.openxmlformats.org/officeDocument/2006/relationships/slide" Target="/ppt/slides/slide22.xml" Id="R358360b3f96e4c54" /><Relationship Type="http://schemas.openxmlformats.org/officeDocument/2006/relationships/slide" Target="/ppt/slides/slide23.xml" Id="R4c4c6f1148104bb6" /><Relationship Type="http://schemas.openxmlformats.org/officeDocument/2006/relationships/slide" Target="/ppt/slides/slide24.xml" Id="R603c31cef1a54294" /><Relationship Type="http://schemas.openxmlformats.org/officeDocument/2006/relationships/slide" Target="/ppt/slides/slide25.xml" Id="R0576c1df9c7c4424" /><Relationship Type="http://schemas.openxmlformats.org/officeDocument/2006/relationships/slide" Target="/ppt/slides/slide26.xml" Id="R6ff97a1ef48749b0" /><Relationship Type="http://schemas.openxmlformats.org/officeDocument/2006/relationships/slide" Target="/ppt/slides/slide27.xml" Id="Rce562184a7d54c73" /><Relationship Type="http://schemas.openxmlformats.org/officeDocument/2006/relationships/slide" Target="/ppt/slides/slide28.xml" Id="R530e865197a14053" /><Relationship Type="http://schemas.openxmlformats.org/officeDocument/2006/relationships/slide" Target="/ppt/slides/slide29.xml" Id="R6b613aa561744a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a055a70b4e4c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135466e6a54d9d" /><Relationship Type="http://schemas.openxmlformats.org/officeDocument/2006/relationships/notesMaster" Target="/ppt/notesMasters/notesMaster1.xml" Id="R6ce38370e7ac4d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53efa0600b4281" /><Relationship Type="http://schemas.openxmlformats.org/officeDocument/2006/relationships/notesMaster" Target="/ppt/notesMasters/notesMaster1.xml" Id="R73def2de7c374f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8ca87275fd491d" /><Relationship Type="http://schemas.openxmlformats.org/officeDocument/2006/relationships/notesMaster" Target="/ppt/notesMasters/notesMaster1.xml" Id="R7cc87721f5984a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8d8ca80c924b77" /><Relationship Type="http://schemas.openxmlformats.org/officeDocument/2006/relationships/notesMaster" Target="/ppt/notesMasters/notesMaster1.xml" Id="R918655ecb2ac48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811a69eecf42ae" /><Relationship Type="http://schemas.openxmlformats.org/officeDocument/2006/relationships/notesMaster" Target="/ppt/notesMasters/notesMaster1.xml" Id="Rfd52de9751f04f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e1bec59fae44a1" /><Relationship Type="http://schemas.openxmlformats.org/officeDocument/2006/relationships/notesMaster" Target="/ppt/notesMasters/notesMaster1.xml" Id="R8042222314c441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31091935b94fe7" /><Relationship Type="http://schemas.openxmlformats.org/officeDocument/2006/relationships/notesMaster" Target="/ppt/notesMasters/notesMaster1.xml" Id="R960678b04e0746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9c3165cc024707" /><Relationship Type="http://schemas.openxmlformats.org/officeDocument/2006/relationships/notesMaster" Target="/ppt/notesMasters/notesMaster1.xml" Id="Red1c58f4e83843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8967035a074dfa" /><Relationship Type="http://schemas.openxmlformats.org/officeDocument/2006/relationships/notesMaster" Target="/ppt/notesMasters/notesMaster1.xml" Id="R4adc8440c21a4f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f6b47f76094dda" /><Relationship Type="http://schemas.openxmlformats.org/officeDocument/2006/relationships/notesMaster" Target="/ppt/notesMasters/notesMaster1.xml" Id="R872079aab4ec4f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571d1b8c7b497c" /><Relationship Type="http://schemas.openxmlformats.org/officeDocument/2006/relationships/notesMaster" Target="/ppt/notesMasters/notesMaster1.xml" Id="R5d7273ff609140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17c735d8c34c83" /><Relationship Type="http://schemas.openxmlformats.org/officeDocument/2006/relationships/notesMaster" Target="/ppt/notesMasters/notesMaster1.xml" Id="R08df60e5b4de4d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f9128c61ff4190" /><Relationship Type="http://schemas.openxmlformats.org/officeDocument/2006/relationships/notesMaster" Target="/ppt/notesMasters/notesMaster1.xml" Id="R8043eb9a1ead42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fa3a8e92504816" /><Relationship Type="http://schemas.openxmlformats.org/officeDocument/2006/relationships/notesMaster" Target="/ppt/notesMasters/notesMaster1.xml" Id="Ra57de49e2d4a4d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5493ca747c4858" /><Relationship Type="http://schemas.openxmlformats.org/officeDocument/2006/relationships/notesMaster" Target="/ppt/notesMasters/notesMaster1.xml" Id="Ra46432e7fa3746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3ca6dea7864f03" /><Relationship Type="http://schemas.openxmlformats.org/officeDocument/2006/relationships/notesMaster" Target="/ppt/notesMasters/notesMaster1.xml" Id="Ra4f7655402fe4b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b2dfbcd94e43cd" /><Relationship Type="http://schemas.openxmlformats.org/officeDocument/2006/relationships/notesMaster" Target="/ppt/notesMasters/notesMaster1.xml" Id="Raa93bdce7dfe4a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d8469519e54591" /><Relationship Type="http://schemas.openxmlformats.org/officeDocument/2006/relationships/notesMaster" Target="/ppt/notesMasters/notesMaster1.xml" Id="R8baffe1265e049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5e7df1bc104bff" /><Relationship Type="http://schemas.openxmlformats.org/officeDocument/2006/relationships/notesMaster" Target="/ppt/notesMasters/notesMaster1.xml" Id="R08277f18018342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f8e9083bb147cc" /><Relationship Type="http://schemas.openxmlformats.org/officeDocument/2006/relationships/notesMaster" Target="/ppt/notesMasters/notesMaster1.xml" Id="R31bf8e834a9a420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592b98bc954aad" /><Relationship Type="http://schemas.openxmlformats.org/officeDocument/2006/relationships/notesMaster" Target="/ppt/notesMasters/notesMaster1.xml" Id="R9b6567532d9a402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89290e3ee144ec" /><Relationship Type="http://schemas.openxmlformats.org/officeDocument/2006/relationships/notesMaster" Target="/ppt/notesMasters/notesMaster1.xml" Id="Rf8bb9370409040b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98db80f6d549dd" /><Relationship Type="http://schemas.openxmlformats.org/officeDocument/2006/relationships/notesMaster" Target="/ppt/notesMasters/notesMaster1.xml" Id="R9e89c89be9104f0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fc7f1bbb9c4f22" /><Relationship Type="http://schemas.openxmlformats.org/officeDocument/2006/relationships/notesMaster" Target="/ppt/notesMasters/notesMaster1.xml" Id="R18ad545bc82a496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841d9af399d43e2" /><Relationship Type="http://schemas.openxmlformats.org/officeDocument/2006/relationships/notesMaster" Target="/ppt/notesMasters/notesMaster1.xml" Id="Rb98ac47256dd49d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59c192951cd471d" /><Relationship Type="http://schemas.openxmlformats.org/officeDocument/2006/relationships/notesMaster" Target="/ppt/notesMasters/notesMaster1.xml" Id="R4e7e700c7789411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a2639a7e63e4633" /><Relationship Type="http://schemas.openxmlformats.org/officeDocument/2006/relationships/notesMaster" Target="/ppt/notesMasters/notesMaster1.xml" Id="Re37cb628c96c47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bb979969874fbe" /><Relationship Type="http://schemas.openxmlformats.org/officeDocument/2006/relationships/notesMaster" Target="/ppt/notesMasters/notesMaster1.xml" Id="Rf6c9a7f3f98b40c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4d1ecfe16924e76" /><Relationship Type="http://schemas.openxmlformats.org/officeDocument/2006/relationships/notesMaster" Target="/ppt/notesMasters/notesMaster1.xml" Id="R5772c997af8242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الشعار والصورة من الملفات التي قدمتها صاحبة VOXEL.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التعريف مبني على وصف صاحبة الشركة. الصورة توضيحية مولدة بالذكاء الاصطناعي وليست مقر الشركة أو فريقها.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تمركز مقترح للاعتماد. لا ندّعي الانفراد بخدمات الاستراتيجية أو قياس الأداء في السوق.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صياغات استراتيجية مقترحة للشركة الناشئة، تحتاج اعتماد الإدارة.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https://datareportal.com/reports/digital-2026-egypt تم الاطلاع في 27 أكتوبر 2026. الرسم بالمليون. لا يُستخدم الرقمان لاستنتاج الإنفاق أو حجم سوق الوكالات.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مصادر رسمية اطلعنا عليها في 27 أكتوبر 2026: https://road9media.com/digital-marketing-agency-in-egypt ؛ https://www.emarketing-egypt.com/ ؛ https://iconve.com/en/digital-marketing-company/ . استنتاج VOXEL تحليلي.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تحليل Porter يجمع بند المنافسة القائمة وتهديد البدائل في الصف الأول، ويغطي القوى الخمس. تقييم تحليلي مقترح.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 وS2 مبنيان على وصف الشركة والخطة المقروءة. باقي البنود تقييم تأسيسي وفرضيات. O1 مصدره DataReportal المشار إليه في شريحة السوق.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خطة قنوات مقترحة لـ VOXEL، تُختبر بحسب الميزانية والاستجابة.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ACP_Integrated_Marketing_Strategy_VOXEL_2026.pptx، 24 شريحة، أكتوبر 2026. مرجع Library: libfile_5e71b6dba4508191818092f8e8e4ba81.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تلخيص للخطة الأصلية المقروءة، الشرائح 2 و5 و9 و10 و12–20.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خطة ACP الأصلية، الشرائح 17 و19 و20. RFQ = طلب عرض سعر.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اسم المشروع وتصنيفه مقدمان من صاحبة VOXEL. اختارت إرسال تفاصيل الخطة أثناء إعداد العرض.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https://datareportal.com/reports/digital-2026-egypt</a:t>
            </a:r>
          </a:p>
          <a:p xmlns:a="http://schemas.openxmlformats.org/drawingml/2006/main">
            <a:r>
              <a:t>https://road9media.com/digital-marketing-agency-in-egypt</a:t>
            </a:r>
          </a:p>
          <a:p xmlns:a="http://schemas.openxmlformats.org/drawingml/2006/main">
            <a:r>
              <a:t>https://www.emarketing-egypt.com/</a:t>
            </a:r>
          </a:p>
          <a:p xmlns:a="http://schemas.openxmlformats.org/drawingml/2006/main">
            <a:r>
              <a:t>https://iconve.com/en/digital-marketing-company/</a:t>
            </a:r>
          </a:p>
          <a:p xmlns:a="http://schemas.openxmlformats.org/drawingml/2006/main">
            <a:r>
              <a:t>اطلاع: 27 أكتوبر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e463ce3614e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32af529764b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fbd09146d4e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5e95e38d144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3042ba0b04f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011268aa448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496329-DF80-4CCC-9B0C-4D700274F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1027B6-4863-45D5-93A1-C998B903D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66E749-FFDC-4A58-8D14-6ECAA75CE8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7E37B5-47A4-4F09-B9A2-F4C577F6B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E63ADA-FAB4-427E-9A70-6F6F74B455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F55185-2DF7-4B0F-ABA9-3329DC67FE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F74819-8AD7-4275-88CE-3B2F299DF2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52C545-F8DD-45AC-A7C4-37FB1B37D4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31B88A-BAEF-4151-9C0C-09B1CEBBA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C65A62-B462-439F-91EC-E0963F5555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7e562ace5b4769" /><Relationship Type="http://schemas.openxmlformats.org/officeDocument/2006/relationships/slideLayout" Target="/ppt/slideLayouts/slideLayout1.xml" Id="R8fc348e6138b41ca" /><Relationship Type="http://schemas.openxmlformats.org/officeDocument/2006/relationships/slideLayout" Target="/ppt/slideLayouts/slideLayout2.xml" Id="R16c8d0f9264a4baf" /><Relationship Type="http://schemas.openxmlformats.org/officeDocument/2006/relationships/slideLayout" Target="/ppt/slideLayouts/slideLayout3.xml" Id="Re7f13d77108c4e53" /><Relationship Type="http://schemas.openxmlformats.org/officeDocument/2006/relationships/slideLayout" Target="/ppt/slideLayouts/slideLayout4.xml" Id="R87f0b65c1b2f4844" /><Relationship Type="http://schemas.openxmlformats.org/officeDocument/2006/relationships/slideLayout" Target="/ppt/slideLayouts/slideLayout5.xml" Id="R8b125f3a59084438" /><Relationship Type="http://schemas.openxmlformats.org/officeDocument/2006/relationships/slideLayout" Target="/ppt/slideLayouts/slideLayout6.xml" Id="R8818f25eea10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c348e6138b41ca"/>
    <p:sldLayoutId xmlns:r="http://schemas.openxmlformats.org/officeDocument/2006/relationships" id="2147483650" r:id="R16c8d0f9264a4baf"/>
    <p:sldLayoutId xmlns:r="http://schemas.openxmlformats.org/officeDocument/2006/relationships" id="2147483651" r:id="Re7f13d77108c4e53"/>
    <p:sldLayoutId xmlns:r="http://schemas.openxmlformats.org/officeDocument/2006/relationships" id="2147483652" r:id="R87f0b65c1b2f4844"/>
    <p:sldLayoutId xmlns:r="http://schemas.openxmlformats.org/officeDocument/2006/relationships" id="2147483653" r:id="R8b125f3a59084438"/>
    <p:sldLayoutId xmlns:r="http://schemas.openxmlformats.org/officeDocument/2006/relationships" id="2147483654" r:id="R8818f25eea10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cf12a77bb4285" /><Relationship Type="http://schemas.openxmlformats.org/officeDocument/2006/relationships/image" Target="/ppt/media/image.jpeg" Id="R962be4e8cc69474e" /><Relationship Type="http://schemas.openxmlformats.org/officeDocument/2006/relationships/notesSlide" Target="/ppt/notesSlides/notesSlide1.xml" Id="R117340c16fc243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fb568d8b64c65" /><Relationship Type="http://schemas.openxmlformats.org/officeDocument/2006/relationships/image" Target="/ppt/media/image.png" Id="Reb18e2469d454c90" /><Relationship Type="http://schemas.openxmlformats.org/officeDocument/2006/relationships/notesSlide" Target="/ppt/notesSlides/notesSlide2.xml" Id="R00d4764ea5cb4c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0107b906b493e" /><Relationship Type="http://schemas.openxmlformats.org/officeDocument/2006/relationships/notesSlide" Target="/ppt/notesSlides/notesSlide3.xml" Id="R149e05c7889946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4adf88ae44c82" /><Relationship Type="http://schemas.openxmlformats.org/officeDocument/2006/relationships/notesSlide" Target="/ppt/notesSlides/notesSlide4.xml" Id="R03435afacbf243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5b70d193644c6" /><Relationship Type="http://schemas.openxmlformats.org/officeDocument/2006/relationships/notesSlide" Target="/ppt/notesSlides/notesSlide5.xml" Id="Rdf0cbe67d3fd4b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70bd9c0c649fb" /><Relationship Type="http://schemas.openxmlformats.org/officeDocument/2006/relationships/chart" Target="/ppt/slides/charts/chart1.xml" Id="Rf2c2758db1f74e2e" /><Relationship Type="http://schemas.openxmlformats.org/officeDocument/2006/relationships/notesSlide" Target="/ppt/notesSlides/notesSlide6.xml" Id="R1be5b46c6bee48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f5e965c73436c" /><Relationship Type="http://schemas.openxmlformats.org/officeDocument/2006/relationships/notesSlide" Target="/ppt/notesSlides/notesSlide7.xml" Id="R8ed8a31f7cba4a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cd354829d40ea" /><Relationship Type="http://schemas.openxmlformats.org/officeDocument/2006/relationships/notesSlide" Target="/ppt/notesSlides/notesSlide8.xml" Id="R563f330fd02a43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9942be9a044c6d" /><Relationship Type="http://schemas.openxmlformats.org/officeDocument/2006/relationships/notesSlide" Target="/ppt/notesSlides/notesSlide9.xml" Id="R34193a147aa941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6b9ad638d4b28" /><Relationship Type="http://schemas.openxmlformats.org/officeDocument/2006/relationships/notesSlide" Target="/ppt/notesSlides/notesSlide10.xml" Id="R3e2a81e81df949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ff7b4b05794a1e" /><Relationship Type="http://schemas.openxmlformats.org/officeDocument/2006/relationships/notesSlide" Target="/ppt/notesSlides/notesSlide11.xml" Id="Rf3afcf46c03c4a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c623e40194469" /><Relationship Type="http://schemas.openxmlformats.org/officeDocument/2006/relationships/notesSlide" Target="/ppt/notesSlides/notesSlide12.xml" Id="R479b15e686074c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c98a4be7749cc" /><Relationship Type="http://schemas.openxmlformats.org/officeDocument/2006/relationships/notesSlide" Target="/ppt/notesSlides/notesSlide13.xml" Id="R6d53467a3e8244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59b60189a43eb" /><Relationship Type="http://schemas.openxmlformats.org/officeDocument/2006/relationships/notesSlide" Target="/ppt/notesSlides/notesSlide14.xml" Id="Re24ada95f5eb4d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4d66441464fc0" /><Relationship Type="http://schemas.openxmlformats.org/officeDocument/2006/relationships/notesSlide" Target="/ppt/notesSlides/notesSlide15.xml" Id="Rafad58411cad42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c9d48a6a944fad" /><Relationship Type="http://schemas.openxmlformats.org/officeDocument/2006/relationships/notesSlide" Target="/ppt/notesSlides/notesSlide16.xml" Id="Rbbfcbafd414040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bdce92bbc4191" /><Relationship Type="http://schemas.openxmlformats.org/officeDocument/2006/relationships/notesSlide" Target="/ppt/notesSlides/notesSlide17.xml" Id="R20777e9a29ca44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b93d48d2544ff0" /><Relationship Type="http://schemas.openxmlformats.org/officeDocument/2006/relationships/notesSlide" Target="/ppt/notesSlides/notesSlide18.xml" Id="R127b062a85494f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b44c90e1d4ac5" /><Relationship Type="http://schemas.openxmlformats.org/officeDocument/2006/relationships/notesSlide" Target="/ppt/notesSlides/notesSlide19.xml" Id="R01fcad2b54e749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c3bc9636547f3" /><Relationship Type="http://schemas.openxmlformats.org/officeDocument/2006/relationships/chart" Target="/ppt/slides/charts/chart2.xml" Id="R5eb42dd410b949d8" /><Relationship Type="http://schemas.openxmlformats.org/officeDocument/2006/relationships/notesSlide" Target="/ppt/notesSlides/notesSlide20.xml" Id="R681dfe80786d4a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b7d35bf1448f8" /><Relationship Type="http://schemas.openxmlformats.org/officeDocument/2006/relationships/notesSlide" Target="/ppt/notesSlides/notesSlide21.xml" Id="Re04f32670205469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63ff3c93347bf" /><Relationship Type="http://schemas.openxmlformats.org/officeDocument/2006/relationships/notesSlide" Target="/ppt/notesSlides/notesSlide22.xml" Id="Raeb6833c38994e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da6f2391c4c62" /><Relationship Type="http://schemas.openxmlformats.org/officeDocument/2006/relationships/image" Target="/ppt/media/image2.png" Id="Rb244938fef0b41d8" /><Relationship Type="http://schemas.openxmlformats.org/officeDocument/2006/relationships/notesSlide" Target="/ppt/notesSlides/notesSlide23.xml" Id="R9800bc09b4e24bf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3e5018ff3421d" /><Relationship Type="http://schemas.openxmlformats.org/officeDocument/2006/relationships/notesSlide" Target="/ppt/notesSlides/notesSlide24.xml" Id="R0501e046463d459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af0b9737a47d8" /><Relationship Type="http://schemas.openxmlformats.org/officeDocument/2006/relationships/notesSlide" Target="/ppt/notesSlides/notesSlide25.xml" Id="R2eaef7e7807c41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9e59584d54e4c" /><Relationship Type="http://schemas.openxmlformats.org/officeDocument/2006/relationships/notesSlide" Target="/ppt/notesSlides/notesSlide26.xml" Id="R99192004a914486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9bf9bbcf54029" /><Relationship Type="http://schemas.openxmlformats.org/officeDocument/2006/relationships/notesSlide" Target="/ppt/notesSlides/notesSlide27.xml" Id="Ree166cd716884a5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669d66fd64b1b" /><Relationship Type="http://schemas.openxmlformats.org/officeDocument/2006/relationships/notesSlide" Target="/ppt/notesSlides/notesSlide28.xml" Id="Rf7d70a0f37ea44d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20da75a0747e4" /><Relationship Type="http://schemas.openxmlformats.org/officeDocument/2006/relationships/notesSlide" Target="/ppt/notesSlides/notesSlide29.xml" Id="Rbf6de5194bd342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القيمة</c:v>
          </c:tx>
          <c:spPr>
            <a:solidFill xmlns:a="http://schemas.openxmlformats.org/drawingml/2006/main">
              <a:srgbClr val="119DA5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مستخدمو الإنترنت</c:v>
                </c:pt>
                <c:pt idx="1">
                  <c:v>هويات التواصل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98.2</c:v>
                </c:pt>
                <c:pt idx="1">
                  <c:v>51.6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3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7F8F8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القيمة</c:v>
          </c:tx>
          <c:spPr>
            <a:solidFill xmlns:a="http://schemas.openxmlformats.org/drawingml/2006/main">
              <a:srgbClr val="119DA5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محتوى وأصول بيع</c:v>
                </c:pt>
                <c:pt idx="1">
                  <c:v>إعلانات تجريبية</c:v>
                </c:pt>
                <c:pt idx="2">
                  <c:v>موقع وبحث</c:v>
                </c:pt>
                <c:pt idx="3">
                  <c:v>تواصل وشراكات</c:v>
                </c:pt>
                <c:pt idx="4">
                  <c:v>قياس واختبار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3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7F8F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8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6C12A-FF99-4795-B7A3-1BE7C02C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6DC0A-F19A-4610-9E06-C2674722F1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be4e8cc6947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" y="2381250"/>
            <a:ext cx="6572250" cy="3581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24360-066D-4EF3-AFD2-A27B7FB6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6286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63916-5F26-436F-AB08-490CF726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90875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الملف التعريفي</a:t>
            </a:r>
          </a:p>
          <a:p xmlns:a="http://schemas.openxmlformats.org/drawingml/2006/main">
            <a:pPr algn="r" rtl="1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والاستراتيجية التسويقية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AA0C5-A548-4EB1-B634-E9CC6FE4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86375"/>
            <a:ext cx="647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استراتيجيات مبنية على فهم السوق</a:t>
            </a:r>
          </a:p>
          <a:p xmlns:a="http://schemas.openxmlformats.org/drawingml/2006/main">
            <a:pPr algn="r" rtl="1">
              <a:def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وحملات ترتبط بأهداف العمل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CF0BB-E906-418B-B4BC-5E268AB0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2390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السوق المصري  •  أكتوبر ٢٠٢٦</a:t>
            </a:r>
          </a:p>
        </p:txBody>
      </p:sp>
    </p:spTree>
    <p:extLst>
      <p:ext uri="{BB962C8B-B14F-4D97-AF65-F5344CB8AC3E}">
        <p14:creationId xmlns:p14="http://schemas.microsoft.com/office/powerpoint/2010/main" val="618169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A088D-3D9F-4295-BC07-2C6C1952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شريك تسويق للشركات التي تحتاج خطة واضحة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9ABAF-4AAD-4AD7-BE36-08B741FD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CF4BF-1C52-4180-8B8C-1F6CF7C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EADCC-899A-4A4B-9086-BE81F59BE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8e2469d454c90"/>
          <a:srcRect xmlns:a="http://schemas.openxmlformats.org/drawingml/2006/main" l="1449" t="0" r="14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476500"/>
            <a:ext cx="638175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06C27-9007-4BBB-891E-CB9BFC74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24125"/>
            <a:ext cx="600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من نحن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DFC56-D067-4351-84B7-31299423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33750"/>
            <a:ext cx="6000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وكالة مصرية ناشئة متخصصة في إعداد الاستراتيجيات والخطط الرقمية، وتحليل السوق، وإدارة الإعلانات على منصات التواصل.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C427C-18B4-47F9-9B41-859E3AA2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76875"/>
            <a:ext cx="600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نربط قرارات التسويق بطبيعة النشاط، واحتياجات العميل، وقدرة فريق المبيعات على المتابعة.</a:t>
            </a:r>
          </a:p>
        </p:txBody>
      </p:sp>
    </p:spTree>
    <p:extLst>
      <p:ext uri="{BB962C8B-B14F-4D97-AF65-F5344CB8AC3E}">
        <p14:creationId xmlns:p14="http://schemas.microsoft.com/office/powerpoint/2010/main" val="130521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38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30105-C578-4926-8F93-533301C1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نقطة التميّز المقترحة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D9455-79A1-4142-A37C-2F8E398C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Unique Selling Proposition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B6179-B60B-4B6E-A42A-9E8A1EF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5099D-AF9B-48EC-B240-9FEF5741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EA009-31E6-46B0-9B43-27D437B6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1285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استراتيجية مخصّصة لقطاعك،</a:t>
            </a:r>
          </a:p>
          <a:p xmlns:a="http://schemas.openxmlformats.org/drawingml/2006/main">
            <a:pPr algn="r" rtl="1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تربط الإعلان بفرصة بيع</a:t>
            </a:r>
          </a:p>
          <a:p xmlns:a="http://schemas.openxmlformats.org/drawingml/2006/main">
            <a:pPr algn="r" rtl="1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يمكن متابعتها.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79969-7442-4EDE-A03E-6EB1B17F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1276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يتسلّم العميل: خريطة سوق، عرض قيمة، خطة تنفيذ، ونظامًا لقياس جودة الاستفسارات.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97019-3BAA-4E30-A574-F50BA891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0"/>
            <a:ext cx="1276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التخصص الأولي المقترح: الشركات الصناعية والخدمات الهندسية</a:t>
            </a:r>
          </a:p>
        </p:txBody>
      </p:sp>
    </p:spTree>
    <p:extLst>
      <p:ext uri="{BB962C8B-B14F-4D97-AF65-F5344CB8AC3E}">
        <p14:creationId xmlns:p14="http://schemas.microsoft.com/office/powerpoint/2010/main" val="105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25786-8C72-4E17-A33A-5A367869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ما الذي يجعل الوعد ملموسًا؟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97A64-E2D5-4DB1-AEA2-76CF6B78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22587-AE69-4ECB-8CA6-0544E78B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A156B-4A91-41C8-93AE-03150E13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فهم النشاط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E4C7B-2F91-41AA-A5D6-0D34B108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نحدّد مشكلة العميل، ودورة الشراء، وصاحب القرار قبل اختيار المنصة.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D64E7-44A6-42DA-A11F-F1428F1A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71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مخرجات يملكها العميل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68B38-BA95-4DE3-A5C5-14D9F737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خطة مكتوبة ورسائل معتمدة وحسابات إعلانية وتقارير يمكن الرجوع إليها.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4F1E0-855F-4D8B-AC76-567EA6DE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672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قياس جودة الفرص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E92D2-641B-4D6F-B8A4-326C3156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نربط مصدر الاستفسار بالتأهيل والاجتماع والعرض التجاري، متى توفرت بيانات المبيعات.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4CD95-3FFA-4956-852D-75D0DD8D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6262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قرارات تحسين واضحة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7E676-2CFF-47B7-97CB-FC813E17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6262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كل تقرير ينتهي بإجراء: استمرار الاختبار أو تعديله أو إيقافه.</a:t>
            </a:r>
          </a:p>
        </p:txBody>
      </p:sp>
    </p:spTree>
    <p:extLst>
      <p:ext uri="{BB962C8B-B14F-4D97-AF65-F5344CB8AC3E}">
        <p14:creationId xmlns:p14="http://schemas.microsoft.com/office/powerpoint/2010/main" val="1619055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2D3E2-BC41-4290-BCB9-86ADAAE5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الرؤية والرسالة وقواعد العمل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4CC85-2C9D-4A21-B2AE-E3AACF11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14AC5-1BC1-4DFF-8943-E22672B0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F9102-3151-486B-BCFA-5754E2A0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الرؤية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CDE2A-BD6A-437F-95BB-B5516A8C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أن تصبح VOXEL شريكًا موثوقًا للشركات المصرية في بناء تسويق قابل للقياس.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2F4A2-90B7-4290-A7FB-0628BE8E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الرسالة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BA7EC-8709-408C-87EE-E3A57199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تحويل فهم السوق إلى خطة تناسب موارد العميل وتدعم أهدافه التجارية.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E14BE-1133-4BE0-AE84-F5E41C81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قيمة العميل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10312-03F3-499C-91F0-87FE9C5A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10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وضوح الأولويات والميزانية والمسؤوليات، مع متابعة منتظمة للأداء.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46437-E1A8-40BA-8C98-91B054BA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قواعد العمل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D6DF8-F800-466F-A682-37EFDB69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بيانات موثوقة، مراجعة بشرية، سرية المعلومات، ووعود واقعية.</a:t>
            </a:r>
          </a:p>
        </p:txBody>
      </p:sp>
    </p:spTree>
    <p:extLst>
      <p:ext uri="{BB962C8B-B14F-4D97-AF65-F5344CB8AC3E}">
        <p14:creationId xmlns:p14="http://schemas.microsoft.com/office/powerpoint/2010/main" val="1197560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75510-EBD4-453E-827C-9CF0B26E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السوق الرقمي المصري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26218-9905-43A3-BE46-630B915C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مؤشرات سياقية لحجم الحضور الرقمي، وليست حجم سوق خدمات الوكالات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D739C-9D44-4D04-B202-4C579981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BB85D-E9B9-4D11-90C7-D4E08E74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239FE2D-1731-4BC5-A058-B34C57D35E68}"/>
              </a:ext>
            </a:extLst>
          </p:cNvPr>
          <p:cNvGraphicFramePr/>
          <p:nvPr/>
        </p:nvGraphicFramePr>
        <p:xfrm>
          <a:off xmlns:a="http://schemas.openxmlformats.org/drawingml/2006/main" x="857250" y="25717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c2758db1f74e2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24DC9-287D-4F32-8515-4C542C4B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98.2 مليون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5DAD6-D5CA-4537-9D49-1C4A7F8D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62375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مستخدم إنترنت</a:t>
            </a:r>
          </a:p>
          <a:p xmlns:a="http://schemas.openxmlformats.org/drawingml/2006/main">
            <a:pPr algn="r" rtl="1">
              <a:def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بنسبة انتشار 82.7%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D70F3-7DA0-4891-9056-12945F24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81625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فرصة VOXEL: الوصول إلى جمهور محدّد برسالة تخدم احتياجه.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7DE2E-C1BB-4B4C-A846-7A7DF3B8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المصدر: DataReportal، Digital 2026: Egypt. البيانات: أكتوبر ٢٠٢٥. هويات التواصل لا تعني أفرادًا فريدين.</a:t>
            </a:r>
          </a:p>
        </p:txBody>
      </p:sp>
    </p:spTree>
    <p:extLst>
      <p:ext uri="{BB962C8B-B14F-4D97-AF65-F5344CB8AC3E}">
        <p14:creationId xmlns:p14="http://schemas.microsoft.com/office/powerpoint/2010/main" val="9984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8E1B9-852C-4289-96BE-334C80F2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قراءة البيئة الخارجية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03D23-8A27-44DB-A2EA-216032DE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تحليل PESTEL نوعي وفرضيات تخطيطية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1E8F4-55EB-4377-BA34-A5C64A51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CD5E7-7072-4D92-A84C-F2B3722D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FDA50-7F9D-4C71-B6C8-F03CD99A06DD}"/>
              </a:ext>
            </a:extLst>
          </p:cNvPr>
          <p:cNvGraphicFramePr/>
          <p:nvPr/>
        </p:nvGraphicFramePr>
        <p:xfrm>
          <a:off xmlns:a="http://schemas.openxmlformats.org/drawingml/2006/main" x="904875" y="2428875"/>
          <a:ext xmlns:a="http://schemas.openxmlformats.org/drawingml/2006/main" cx="134302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4286250"/>
                <a:gridCol w="2952750"/>
              </a:tblGrid>
              <a:tr h="598714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استجابة VOXEL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الأثر المحتمل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العامل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</a:tr>
              <a:tr h="598714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مراجعة النطاق قبل الإطلاق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تغيّر متطلبات المنصات والقطاعات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سياسي / تنظيمي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تسعير محدد المدة واختبارات صغيرة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ضغط الميزانيات وتكاليف الإنتاج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اقتصادي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598714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أمثلة محلية ومحتوى يجيب عن الاعتراضات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الحاجة إلى الثقة وإثبات الخبرة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اجتماعي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تتبع متعدد المصادر ومراجعة بشرية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سرعة أدوات AI وتغيّر القياس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تقني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598714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تحقق من الادعاءات وحقوق الصور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مخاطر البيانات والمحتوى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قانوني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تقليل الهدر وعدم ادعاء أثر غير موثّق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اهتمام بعض عملاء الصناعة بالاستدامة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بيئي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E03D8-36C5-46A8-875F-BE284DB6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هذه قراءة استراتيجية وليست تقييمًا قانونيًا أو توقعًا اقتصاديًا كميًا.</a:t>
            </a:r>
          </a:p>
        </p:txBody>
      </p:sp>
    </p:spTree>
    <p:extLst>
      <p:ext uri="{BB962C8B-B14F-4D97-AF65-F5344CB8AC3E}">
        <p14:creationId xmlns:p14="http://schemas.microsoft.com/office/powerpoint/2010/main" val="11598878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B9634-4A77-4D6E-BD16-2E07383E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المنافسة تتطلب تميّزًا أدق من «خدمات متكاملة»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2FB96-D176-4B12-9F40-B2999073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01CD7-4E89-40E1-BF3A-89EDB028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BFA87-6D30-4F06-8D87-01C512516C13}"/>
              </a:ext>
            </a:extLst>
          </p:cNvPr>
          <p:cNvGraphicFramePr/>
          <p:nvPr/>
        </p:nvGraphicFramePr>
        <p:xfrm>
          <a:off xmlns:a="http://schemas.openxmlformats.org/drawingml/2006/main" x="904875" y="2428875"/>
          <a:ext xmlns:a="http://schemas.openxmlformats.org/drawingml/2006/main" cx="134302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048250"/>
                <a:gridCol w="2952750"/>
              </a:tblGrid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دلالة على تمركز VOXEL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خدمات معلنة على الموقع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عينة مرجعية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</a:tr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التركيز على قطاع واضح ومخرجات عملية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استراتيجية محتوى وإدارة منصات وإعلانات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Road9 Media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ربط التقارير بتأهيل الفرص التجارية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تسويق أداء وتوليد عملاء B2B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eMarketing Egypt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إثبات الفهم الصناعي والهندسي بأعمال موثقة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بحث وإعلانات ومحتوى وتتبع تحويلات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Iconve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CC1D0-59FB-4FF8-8ACA-E5F04C5A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عينة مرجعية وليست ترتيبًا للأفضل. لا تتوافر بيانات موحّدة عن الأسعار أو النتائج للمقارنة.</a:t>
            </a:r>
          </a:p>
        </p:txBody>
      </p:sp>
    </p:spTree>
    <p:extLst>
      <p:ext uri="{BB962C8B-B14F-4D97-AF65-F5344CB8AC3E}">
        <p14:creationId xmlns:p14="http://schemas.microsoft.com/office/powerpoint/2010/main" val="12901555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D3352-8930-479E-8F78-BEB4B52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قوى المنافسة الخمس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27E84-7618-4BBE-97F7-A5C3271C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تقدير نوعي أولي، دون درجات رقمية مصطنعة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F7737-8AEC-4376-9B02-F25DE1D6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6753D-5B89-4B48-9A22-CFA11D06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3A77D-C641-425F-A6AA-A9C0B81E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المنافسون والبدائل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30C4E-1BB7-41A2-8922-C1C2224C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وكالات متعددة، مستقلون، فرق داخلية وأدوات ذاتية. الاستجابة: تخصص وأدلة عمل.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75CF1-974F-404E-8EEE-BF8A4C60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71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قوة العميل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727EF-4E70-410E-AF56-2E12AEF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سهولة مقارنة العروض تزيد ضغط السعر. الاستجابة: نطاق ومخرجات ومعايير قبول واضحة.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43453-287F-4048-AAEC-96C03FDF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672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الموردون والمنصات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AAD18-8D13-4D59-B21C-DC4753D0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الاعتماد على المنصات والإنتاج يؤثر في التكلفة. الاستجابة: بدائل وتوثيق الأصول.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EAE53-75C4-4B30-A75B-29505F7E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6262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دخول منافسين جدد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55C52-488B-4464-9FA2-0CFD8FFB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6262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سهولة بدء تقديم الخدمات. الاستجابة: بناء معرفة قطاعية ونظام عمل يصعب تقليده سريعًا.</a:t>
            </a:r>
          </a:p>
        </p:txBody>
      </p:sp>
    </p:spTree>
    <p:extLst>
      <p:ext uri="{BB962C8B-B14F-4D97-AF65-F5344CB8AC3E}">
        <p14:creationId xmlns:p14="http://schemas.microsoft.com/office/powerpoint/2010/main" val="1864487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EF280-7022-4163-813F-9B9DF9DF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الشرائح المستهدفة وأولوية الدخول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2BBCA-94F4-410A-B64A-5A4E5E8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STP: تقسيم السوق ثم الاستهداف والتمركز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CA54E-0F44-43C8-A36F-EEA24F35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34DE0-EE66-4F81-A6CF-0FEAE2BB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0A939-FA29-4509-A8B4-718D05327E75}"/>
              </a:ext>
            </a:extLst>
          </p:cNvPr>
          <p:cNvGraphicFramePr/>
          <p:nvPr/>
        </p:nvGraphicFramePr>
        <p:xfrm>
          <a:off xmlns:a="http://schemas.openxmlformats.org/drawingml/2006/main" x="904875" y="2428875"/>
          <a:ext xmlns:a="http://schemas.openxmlformats.org/drawingml/2006/main" cx="134302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3810000"/>
                <a:gridCol w="3905250"/>
              </a:tblGrid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الاحتياج الذي نخدمه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صاحب القرار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الأولوية / الشريحة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</a:tr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ملف تأهيل وطلبات عروض أسعار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المالك أو التطوير التجاري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١  الشركات الصناعية والمقاولون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عرض المشاريع وحجز الاستشارات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صاحب المكتب أو مدير التسويق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٢  المكاتب الهندسية والتصميم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توليد طلبات مؤهلة ضمن نطاق واضح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المالك أو مدير المبيعات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٣  خدمات مهنية مختارة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1A4F6-B6D9-4A47-9ED9-7BE70781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الأولوية مقترحة بناءً على الأعمال التي ذكرتها صاحبة VOXEL، وليست نتيجة دراسة حجم سوق مكتملة.</a:t>
            </a:r>
          </a:p>
        </p:txBody>
      </p:sp>
    </p:spTree>
    <p:extLst>
      <p:ext uri="{BB962C8B-B14F-4D97-AF65-F5344CB8AC3E}">
        <p14:creationId xmlns:p14="http://schemas.microsoft.com/office/powerpoint/2010/main" val="7336455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D09FC-63C6-4A27-A123-42B9259B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العميل المناسب لـ VOXEL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FF0CB-A16F-40DB-BE56-DA0A2539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D65FD-BBC5-4CFE-A800-1D2F4A5D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0D869-897E-46F6-A2BA-F6383936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مدير شركة صناعية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0140C-8836-4882-B432-090F0C70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33750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يحتاج الوصول إلى جهات شراء مناسبة.</a:t>
            </a:r>
          </a:p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يسأل: هل تفهمون خدمتي الفنية؟</a:t>
            </a:r>
          </a:p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يحتاج دليلًا: ملف أعمال ومحتوى متخصص.</a:t>
            </a:r>
          </a:p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التحويل المطلوب: اجتماع أو طلب تسعير.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16AC3-27CD-420C-9775-10E70C40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صاحب مكتب هندسي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B6B71-B86B-4590-9679-48AED054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يحتاج إظهار قيمة التصميم وجودة التنفيذ.</a:t>
            </a:r>
          </a:p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يسأل: هل الاستفسارات جادة ومناسبة؟</a:t>
            </a:r>
          </a:p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يحتاج دليلًا: مشاريع موثقة وشرح للمنهج.</a:t>
            </a:r>
          </a:p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التحويل المطلوب: استشارة مؤهلة.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294EC-10D0-49C2-B889-ECBFA6D0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شخصيات شرائية افتراضية تُختبر بمقابلات مع العملاء قبل التوسع.</a:t>
            </a:r>
          </a:p>
        </p:txBody>
      </p:sp>
    </p:spTree>
    <p:extLst>
      <p:ext uri="{BB962C8B-B14F-4D97-AF65-F5344CB8AC3E}">
        <p14:creationId xmlns:p14="http://schemas.microsoft.com/office/powerpoint/2010/main" val="20594561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47AB2-C901-43E5-A854-2B215C78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تحليل SWOT لشركة VOXEL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EBBB7-A6C7-43F1-B6D2-1CA04798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SWOT للشركة في مرحلة التأسيس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D74CF-F61E-415E-965D-53B1A39A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D68C2-760A-46A9-9C55-56446988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8F998-90A4-4D3D-B5C3-9B1EBA5F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S  نقاط القوة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6C0A0-F443-426E-8744-EBA3BD2A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S1  الربط بين تحليل السوق والتخطيط والإعلان.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S2  وجود خطة سابقة متاحة لقطاع صناعي.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FD945-8444-456D-B586-24445C9D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W  نقاط الضعف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D4054-6037-44DD-874C-3D35B5D0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W1  محدودية السمعة والأدلة المنشورة كشركة جديدة.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W2  الطاقة التنفيذية لم تُختبر بعد على نطاق واسع.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A8A6A-76CA-4229-A7CA-A75B4EA3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O  الفرص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F6258-3E8E-483C-B712-A661D17D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10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O1  قاعدة رقمية واسعة في السوق المصري.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O2  تخصص في خدمات تتطلب شرحًا فنيًا وثقة.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D11B9-4CBC-416C-95B9-27FA00A1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T  التهديدات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AB2E1-7A14-4238-AAEB-C57719C0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T1  تشابه العروض وضغط المنافسة السعرية.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T2  تغيّر سياسات المنصات وتكلفة الاستحواذ.</a:t>
            </a:r>
          </a:p>
        </p:txBody>
      </p:sp>
    </p:spTree>
    <p:extLst>
      <p:ext uri="{BB962C8B-B14F-4D97-AF65-F5344CB8AC3E}">
        <p14:creationId xmlns:p14="http://schemas.microsoft.com/office/powerpoint/2010/main" val="10828872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206AD-965D-4226-95EA-411FD447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تحويل SWOT إلى قرارات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D6756-A646-4A92-B2C4-B2621FB5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TOWS مرتبطة مباشرة برموز التحليل السابق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153DC-D800-4A86-AC8C-5ED2CF6C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30F0D-2E1C-4773-9E14-90E73CD7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A1C94-0866-4095-8B0E-46AEAE42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SO  استثمار القوة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9A938-05EC-4F28-AEF1-6081D158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S1 + O1: بناء حملات تنطلق من بحث الجمهور.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S2 + O2: تقديم عرض متخصص للصناعة.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AB609-0FAB-4DEE-ACB2-596D10BD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WO  معالجة الضعف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A192B-6AB7-4997-A352-8639F88E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W1 + O2: نشر ملخصات أعمال بموافقة العملاء.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W2 + O1: بدء التشغيل بعدد محدود من الحسابات.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985B9-957E-4EFF-907C-4B8FD460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ST  تقليل التهديد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7CF64-2E61-4C99-85C8-B4F13568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10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S1 + T1: مقارنة العروض بالمخرجات وجودة الفرص.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S2 + T2: تنويع الوصول بين البحث والتواصل المباشر.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1A1CB-F0A0-4F65-BCF3-6392A7C4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WT  ضبط المخاطر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E84D4-7A10-4ECB-B63F-18E54B1D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W1 + T1: تجربة مدفوعة محددة النطاق أولًا.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W2 + T2: سقف إنفاق ومراجعة أسبوعية للحملات.</a:t>
            </a:r>
          </a:p>
        </p:txBody>
      </p:sp>
    </p:spTree>
    <p:extLst>
      <p:ext uri="{BB962C8B-B14F-4D97-AF65-F5344CB8AC3E}">
        <p14:creationId xmlns:p14="http://schemas.microsoft.com/office/powerpoint/2010/main" val="3245916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2CA7F-1159-426E-AE5D-B3596FE5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خدماتنا ومخرجاتها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99E25-6C37-48A6-B4B7-0F4CE64A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6E72C-BBAE-463A-9F0E-5115EDBE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E2D57-6B0F-402F-BEAF-E3CD1D8A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تحليل السوق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2853C-552F-422C-BAE2-24841642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خريطة منافسين، شرائح مستهدفة، احتياجات واعتراضات، وفرص تمركز.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BB0EA-1D29-4766-9693-8C29203E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71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الاستراتيجية والخطة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CAC57-4177-4ED7-84C7-CCA2C077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أهداف، عرض قيمة، قنوات، ميزانية تخطيطية، وجدول تنفيذ ومسؤوليات.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B17BA-6EEF-49B3-A625-76D5B67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672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المحتوى والإعلانات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5F9AA-9AB9-45C1-A4E2-4048CF23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رسائل وتصوّرات إبداعية وخطة محتوى واختبارات حملات وفق نطاق التعاقد.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13577-A824-4773-A607-1231F558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6262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القياس والتحسين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D62DD-24AB-4AFB-A783-43E36610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6262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تقرير أداء، متابعة جودة الاستفسارات، وتوصيات عملية للدورة التالية.</a:t>
            </a:r>
          </a:p>
        </p:txBody>
      </p:sp>
    </p:spTree>
    <p:extLst>
      <p:ext uri="{BB962C8B-B14F-4D97-AF65-F5344CB8AC3E}">
        <p14:creationId xmlns:p14="http://schemas.microsoft.com/office/powerpoint/2010/main" val="16910500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C0DC8-C844-447B-9C84-2FE5EA89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منهج العمل مع العميل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90A4F-0EB2-4759-A12F-6C5CE251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A7FAF-1D37-4D80-821F-1FC738E9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AC067-9452-419B-B37F-97B3ADD6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14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558F5-D644-4BBC-990C-56A27563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9052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فهم النشاط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20AA4-0EED-4F30-8A2C-7EAFADDF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8577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مقابلة وتدقيق البيانات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6D273-B972-42EF-AC86-4B006A0D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14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528EB-3A0C-4326-B41F-7FB8C02B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بحث وتمركز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477C0-7540-4619-B2AB-1189A73A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جمهور ومنافسون ورسالة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B79A1-AC10-4762-A022-C067909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0E66B-DA40-4A09-875E-F8504865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052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خطة معتمدة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42C14-BC17-4F14-A3C3-5C78180D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577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أهداف ونطاق وميزانية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6F6B0-007C-4D92-800B-B352DB49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14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5527D-BDF5-4EE9-8F09-521B5E8A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تنفيذ واختبار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95194-16D4-4DD2-B8BC-ADD7A1A1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محتوى وإعلان وتتبع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D5CB2-F860-4347-9555-DEF47D55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0E3C8-DE9B-41EA-A958-96B0F616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قياس وتحسين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CEFFD-24C8-4087-A5AF-D3AD11EE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 rtl="1">
              <a:def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فرص مؤهلة وقرارات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1BA84-E10B-4CFB-90AE-AD674199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نقطة اعتماد قبل الإطلاق، ثم مراجعة تشغيلية أسبوعية وتقرير شهري ضمن الاتفاق.</a:t>
            </a:r>
          </a:p>
        </p:txBody>
      </p:sp>
    </p:spTree>
    <p:extLst>
      <p:ext uri="{BB962C8B-B14F-4D97-AF65-F5344CB8AC3E}">
        <p14:creationId xmlns:p14="http://schemas.microsoft.com/office/powerpoint/2010/main" val="21003361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05864-854F-4B13-946E-BC995755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المزيج التسويقي لـ VOXEL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A0CD9-AB5F-4EB2-A276-483B5193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اختيارات تشغيلية مقترحة للمرحلة الأولى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2414B-203C-42E0-953A-BC371E3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DB7BF-4439-4B58-9EE5-D69DA5C9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503A1-93C2-4A39-8728-AFA7B62DC8E6}"/>
              </a:ext>
            </a:extLst>
          </p:cNvPr>
          <p:cNvGraphicFramePr/>
          <p:nvPr/>
        </p:nvGraphicFramePr>
        <p:xfrm>
          <a:off xmlns:a="http://schemas.openxmlformats.org/drawingml/2006/main" x="904875" y="2428875"/>
          <a:ext xmlns:a="http://schemas.openxmlformats.org/drawingml/2006/main" cx="134302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906000"/>
                <a:gridCol w="3524250"/>
              </a:tblGrid>
              <a:tr h="523875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الاختيار المقترح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العنصر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</a:tr>
              <a:tr h="523875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تشخيص واستراتيجية، ثم تشغيل شهري محدد النطاق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الخدمة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أتعاب منفصلة عن الإنفاق الإعلاني والإنتاج الخارجي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السعر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523875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مقابلات رقمية وزيارات حسب المشروع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الإتاحة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محتوى خبرة ودراسات أعمال وإحالات وتواصل مخصص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الترويج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523875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مسؤول حساب ومراجع فني من جهة العميل عند الحاجة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الأشخاص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مراحل اعتماد، توثيق تغييرات، وتقارير دورية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العمليات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523875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خطط فعلية وعينات ومؤشرات موثّقة بموافقة أصحابها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الدليل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368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5F0BA-8555-4B31-A57A-EA11C675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قنوات جذب عملاء VOXEL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820B3-7B8B-478C-BD21-A8378091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08D13-D667-499C-870E-E959F34F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99F13-DDA9-43B3-B2C9-76D44333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LinkedIn والتواصل المباشر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D0567-1D16-4F33-AF4B-9DA3469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للوصول إلى أصحاب القرار بالشركات.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المحتوى: تحليل قطاع ومشكلة محددة ودراسة عمل.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E973D-8CEE-4479-8810-927660EC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الموقع والبحث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4A046-4999-474C-8E5E-44F45E82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لالتقاط الطلب على خدمات واضحة.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صفحات قطاعية وملخصات أعمال ونموذج تواصل.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86180-0917-47FC-BD6B-F9575018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Facebook وInstagram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082ED-9B68-4D4C-9CF9-B53705D7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10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لبناء المعرفة بالعلامة وعرض طريقة العمل.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المحتوى: شرح مختصر وعينات مرئية وشهادات موثّقة.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B0B90-BE53-44B6-B156-CC93E298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الإحالات والشراكات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A9866-D41D-47E2-9F5C-6B0C098D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علاقات مع التصوير والتطوير والخدمات المكملة.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اتفاق واضح على نطاق كل طرف وحماية بيانات العميل.</a:t>
            </a:r>
          </a:p>
        </p:txBody>
      </p:sp>
    </p:spTree>
    <p:extLst>
      <p:ext uri="{BB962C8B-B14F-4D97-AF65-F5344CB8AC3E}">
        <p14:creationId xmlns:p14="http://schemas.microsoft.com/office/powerpoint/2010/main" val="9217442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A7DF8-DE61-4EF9-936D-68A8E980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رحلة العميل ومؤشرات التحويل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8A36D-622B-41A5-A7F7-710BB489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9164D-0BF5-43D9-AFED-97850E9A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406A5-5034-4AD4-9F22-AC4FD739601A}"/>
              </a:ext>
            </a:extLst>
          </p:cNvPr>
          <p:cNvGraphicFramePr/>
          <p:nvPr/>
        </p:nvGraphicFramePr>
        <p:xfrm>
          <a:off xmlns:a="http://schemas.openxmlformats.org/drawingml/2006/main" x="904875" y="2428875"/>
          <a:ext xmlns:a="http://schemas.openxmlformats.org/drawingml/2006/main" cx="134302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5238750"/>
                <a:gridCol w="3619500"/>
              </a:tblGrid>
              <a:tr h="6985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ما نقيسه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الإجراء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المرحلة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</a:tr>
              <a:tr h="6985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الزيارات ذات الصلة ومصدرها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محتوى متخصص أو إعلان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اكتشاف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طلبات تواصل مكتملة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دراسة عمل وصفحة خدمة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اهتمام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6985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نسبة الاستفسارات المؤهلة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مكالمة احتياج وميزانية وتوقيت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تأهيل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العروض المقبولة من المرسلة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عرض نطاق ومدة وتكلفة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تعاقد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6985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الاستمرار ورضا العميل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تنفيذ وتقارير ومراجعة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احتفاظ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8E640-93E6-4EEA-A194-6DD7CDB3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الاستفسار المؤهل: نشاط مناسب، احتياج واضح، قدرة ميزانية، ومسؤول قرار أو مسار للوصول إليه.</a:t>
            </a:r>
          </a:p>
        </p:txBody>
      </p:sp>
    </p:spTree>
    <p:extLst>
      <p:ext uri="{BB962C8B-B14F-4D97-AF65-F5344CB8AC3E}">
        <p14:creationId xmlns:p14="http://schemas.microsoft.com/office/powerpoint/2010/main" val="14631513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FF947-3DB4-4E69-9700-F0BF8274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مؤشرات نجاح ترتبط بالعمل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E82D5-DF3C-46EA-86B7-E77B4BB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EFFCC-CE83-4D7D-A78E-E8D57278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9E2BD-97F0-4742-BB59-15447A87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جودة الاكتساب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BA21E-55B4-45B8-8868-6EA42518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33750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تكلفة الاستفسار المؤهل = الإنفاق ÷ الاستفسارات المؤهلة.</a:t>
            </a:r>
          </a:p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معدل التأهيل = المؤهلة ÷ جميع الاستفسارات.</a:t>
            </a:r>
          </a:p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معدل الإغلاق = العملاء الجدد ÷ العروض المرسلة.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6BF44-5FAE-4E1A-A7E4-F72AEADF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استدامة العلاقة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D51FF-DDFB-4086-8E9C-9EBB11DD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تكلفة اكتساب العميل = تكاليف التسويق والبيع ÷ العملاء الجدد.</a:t>
            </a:r>
          </a:p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الاحتفاظ = العملاء المستمرون من بداية الفترة ÷ عملاء بدايتها.</a:t>
            </a:r>
          </a:p>
          <a:p xmlns:a="http://schemas.openxmlformats.org/drawingml/2006/main">
            <a:pPr algn="r" rtl="1">
              <a:def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تقييم التسليم = المخرجات المقبولة في موعدها.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F5D63-3D50-49C1-B6F8-71173044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الأهداف الرقمية تُعتمد بعد أول ٣٠ يومًا وقياس خط الأساس. لا توجد وعود بعائد ثابت.</a:t>
            </a:r>
          </a:p>
        </p:txBody>
      </p:sp>
    </p:spTree>
    <p:extLst>
      <p:ext uri="{BB962C8B-B14F-4D97-AF65-F5344CB8AC3E}">
        <p14:creationId xmlns:p14="http://schemas.microsoft.com/office/powerpoint/2010/main" val="17219678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3FD75-CD62-4798-BC90-52F0BA65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توزيع مبدئي لميزانية نمو VOXEL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15DDB-64CA-4333-9054-20C67995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نسب افتراضية للتخطيط، وليست أسعارًا أو إنفاقًا منفّذًا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BBBD6-E293-4BA3-AB71-6AFD9445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5BBA4-9E8E-419E-9E24-34D026D0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87A1C68-B0C4-4865-BC7D-926BA4341317}"/>
              </a:ext>
            </a:extLst>
          </p:cNvPr>
          <p:cNvGraphicFramePr/>
          <p:nvPr/>
        </p:nvGraphicFramePr>
        <p:xfrm>
          <a:off xmlns:a="http://schemas.openxmlformats.org/drawingml/2006/main" x="857250" y="2571750"/>
          <a:ext xmlns:a="http://schemas.openxmlformats.org/drawingml/2006/main" cx="8572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b42dd410b949d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DEAD9-9197-44C7-A5C5-BD06E65C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051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0572E-96AF-4324-866F-DFA54D3A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من مخصصات التسويق</a:t>
            </a:r>
          </a:p>
          <a:p xmlns:a="http://schemas.openxmlformats.org/drawingml/2006/main">
            <a:pPr algn="r" rtl="1">
              <a:def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المتاحة للنمو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BD0F3-9F4D-4839-AA60-E583CF41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تُراجع النسب بعد ظهور تكلفة الفرصة وجودتها.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0E537-8B2D-42C6-A792-878573B9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النسب لا تشمل رواتب التشغيل الثابتة. اختيار القنوات وقيمة الميزانية يحتاجان اعتماد الإدارة.</a:t>
            </a:r>
          </a:p>
        </p:txBody>
      </p:sp>
    </p:spTree>
    <p:extLst>
      <p:ext uri="{BB962C8B-B14F-4D97-AF65-F5344CB8AC3E}">
        <p14:creationId xmlns:p14="http://schemas.microsoft.com/office/powerpoint/2010/main" val="11036090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5BD1F-ED12-4114-B1A1-148A3B8C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خطة إطلاق VOXEL خلال ٩٠ يومًا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263AA-78D9-4E66-BBAD-D76B7A4F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6AFAD-9A4B-4D1D-ABA6-23A5583D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48819-8768-4797-9755-5E55599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71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١–٣٠ يومًا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0436D-0D26-4EE1-96F1-0BD8746A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81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التأسيس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59281-4D4C-430B-96C2-8680BBEC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29125"/>
            <a:ext cx="4095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اعتماد التمركز ونطاق الخدمات</a:t>
            </a:r>
          </a:p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تجهيز ملف الأعمال وصفحات الخدمات</a:t>
            </a:r>
          </a:p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إعداد التتبع وقائمة العملاء الأولية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83307-B46B-4F91-BC8F-92BEE081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٣١–٦٠ يومًا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A3148-5412-46C5-8499-0333F080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الاختبار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2CAA2-7410-408C-B20A-FDEC6E01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29125"/>
            <a:ext cx="4095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نشر محتوى الخبرة</a:t>
            </a:r>
          </a:p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تواصل مخصص مع الحسابات المناسبة</a:t>
            </a:r>
          </a:p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اختبار إعلان ورسالتين تسويقيتين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34E48-19F8-446B-9979-42E6C03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٦١–٩٠ يومًا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C4F01-533A-4BD3-9D7E-88F011D8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التحسين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E6185-31E4-4BE1-8879-F9A6CDA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095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مراجعة جودة الفرص وتكلفتها</a:t>
            </a:r>
          </a:p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تحسين العرض وصفحة التحويل</a:t>
            </a:r>
          </a:p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توثيق الأعمال واعتماد خطة الربع التالي</a:t>
            </a:r>
          </a:p>
        </p:txBody>
      </p:sp>
    </p:spTree>
    <p:extLst>
      <p:ext uri="{BB962C8B-B14F-4D97-AF65-F5344CB8AC3E}">
        <p14:creationId xmlns:p14="http://schemas.microsoft.com/office/powerpoint/2010/main" val="16842202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79268-0E78-4CE9-9127-7FC65F39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إدارة الجودة والمخاطر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027E2-C3E8-4515-A73F-0B168E5F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02F46-4800-42BC-9562-9CEBE040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8D2D1-2512-4683-90E0-BE503BF3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الوعود والادعاءات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9A2DB-EEF5-4078-8C03-215C787C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اعتماد الرسائل من العميل وتوثيق مصدر أي رقم أو شهادة قبل النشر.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D155E-67DD-48F6-B606-99A7477F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71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الحسابات والبيانات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F1650-C86C-4BFE-8153-B3AC6A28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صلاحيات محددة، حسابات مملوكة للعميل، وتخزين منظم للملفات المعتمدة.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1A674-9F38-42EB-B137-707D18A9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672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الميزانية والطاقة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7EFB0-67DC-4118-9C05-2B39DE47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سقف إنفاق، نطاق مكتوب، وجدولة تتناسب مع الموارد المتاحة.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B5121-5481-4972-8DEF-ECFF876A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6262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الاستفسارات والمبيعات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377B8-685D-456A-99C2-C413A57E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6262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مسؤول متابعة لدى العميل وتسجيل الملاحظات لضبط جودة الاستهداف.</a:t>
            </a:r>
          </a:p>
        </p:txBody>
      </p:sp>
    </p:spTree>
    <p:extLst>
      <p:ext uri="{BB962C8B-B14F-4D97-AF65-F5344CB8AC3E}">
        <p14:creationId xmlns:p14="http://schemas.microsoft.com/office/powerpoint/2010/main" val="11814588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38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B8D21-5B8A-4821-8F5E-5B136C5A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سابقة أعمال: الإسكندرية للطلاءات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46DE1-B41A-40D8-854E-92B6CA96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ACP — إعداد استراتيجية تسويق وتطوير أعمال B2B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9AE13-4365-41B4-9ECA-900A409A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81231-BB7E-444D-907A-A4D1650F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C716D-4E23-40C6-872F-167B0F5F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146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التحدي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C7266-79E3-4BFB-A6CF-ECE103E2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638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خدمة فنية ودورة شراء طويلة تحتاجان إلى إثبات الخبرة والوصول إلى المشتريات والهندسة.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078B0-6D7F-4B6B-9E1D-562B59E287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4938fef0b41d8"/>
          <a:srcRect xmlns:a="http://schemas.openxmlformats.org/drawingml/2006/main" l="0" t="18954" r="0" b="189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2381250"/>
            <a:ext cx="552450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20211-8D97-445B-80C2-CB8EA46F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29250"/>
            <a:ext cx="638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خطة ٩٠ يومًا: حسابات مستهدفة ومحتوى فني وقياس طلبات التسعير.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15C2A-E53E-450B-844F-7B2936B3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58000"/>
            <a:ext cx="1285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سابقة إعداد استراتيجية دون نتائج تنفيذ موثّقة. الصورة توضيحية وليست من أعمال ACP.</a:t>
            </a:r>
          </a:p>
        </p:txBody>
      </p:sp>
    </p:spTree>
    <p:extLst>
      <p:ext uri="{BB962C8B-B14F-4D97-AF65-F5344CB8AC3E}">
        <p14:creationId xmlns:p14="http://schemas.microsoft.com/office/powerpoint/2010/main" val="12859140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56647-9204-4FF4-8D2C-CA1F2BC5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ACP: ربط التسويق بمسار طلب عرض السعر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20906-F96E-4FFD-BBDF-967B9382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FC08F-9736-4E31-B713-D43A870B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EC87A-24B5-4CB7-8092-DC331F771ECB}"/>
              </a:ext>
            </a:extLst>
          </p:cNvPr>
          <p:cNvGraphicFramePr/>
          <p:nvPr/>
        </p:nvGraphicFramePr>
        <p:xfrm>
          <a:off xmlns:a="http://schemas.openxmlformats.org/drawingml/2006/main" x="904875" y="2428875"/>
          <a:ext xmlns:a="http://schemas.openxmlformats.org/drawingml/2006/main" cx="134302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5238750"/>
                <a:gridCol w="3238500"/>
              </a:tblGrid>
              <a:tr h="8382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المخرج المخطط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الاختيار الاستراتيجي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الاحتياج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</a:tr>
              <a:tr h="8382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ملف شركة ومحتوى تنفيذ وفحص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إثبات فني بمشروعات ووثائق حقيقية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الثقة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قائمة أولية من ١٤ جهة مستهدفة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مقاولون وجهات صناعية وشراء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الوصول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8382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صفحات خدمات ونموذج طلب تسعير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بحث متخصص وتواصل مخصص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الطلب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تسجيل الاجتماعات والطلبات والعروض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متابعة CRM ومؤشرات جودة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التحويل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C93A0-F483-4CC1-A456-1FC9410F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الجهات المستهدفة فرص بحث وتواصل وليست قائمة عملاء متعاقدين مع ACP أو VOXEL.</a:t>
            </a:r>
          </a:p>
        </p:txBody>
      </p:sp>
    </p:spTree>
    <p:extLst>
      <p:ext uri="{BB962C8B-B14F-4D97-AF65-F5344CB8AC3E}">
        <p14:creationId xmlns:p14="http://schemas.microsoft.com/office/powerpoint/2010/main" val="11060386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27567-87D4-4EF9-A15B-7CDB582E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ACP: خطة التنفيذ ومعايير المتابعة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C4838-798B-4AD1-A79A-FDF1D304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855CB-E041-4A51-B492-F7A1C172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5DEBA-C3CC-4E8E-889F-0678C38D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الشهر الأول: تجهيز الأساس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56DDD-9908-4508-9979-8C782A81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مراجعة الخدمات، ملف الشركة، صفحات الخدمات، قائمة الحسابات والتصوير.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F58D4-EED8-4053-8259-0F159447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الشهر الثاني: إطلاق الوصول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CABC9-0BD4-40DD-9704-8C829E23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محتوى LinkedIn، تواصل مخصص، واختبار إعلانات البحث.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D8F3E-94E9-42F9-8848-FB60DAAD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الشهر الثالث: تحسين التحويل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17887-6712-4B1E-AC23-8C378846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10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تحليل مصادر طلبات التسعير، الاجتماعات الفنية، والمتابعة التجارية.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42D12-8FAD-47EA-BD00-D6A3504A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مؤشرات مقترحة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AC556-D9A0-4159-869C-79386E2A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الردود ذات الصلة، الاجتماعات الفنية، طلبات RFQ المؤهلة وقيمة الفرص.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F8F31-F0E1-4A52-A276-EAA87B7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تُعتمد الأهداف بعد خط الأساس والطاقة التشغيلية. لا تمثل هذه الشريحة نتائج فعلية.</a:t>
            </a:r>
          </a:p>
        </p:txBody>
      </p:sp>
    </p:spTree>
    <p:extLst>
      <p:ext uri="{BB962C8B-B14F-4D97-AF65-F5344CB8AC3E}">
        <p14:creationId xmlns:p14="http://schemas.microsoft.com/office/powerpoint/2010/main" val="11542037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B888C-74F5-4A51-A7F3-1883EE33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سابقة أعمال: Space 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BAA9E-3406-40ED-97C9-F43943CF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المكتب الهندسي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3D477-0D05-4A0C-BB57-85ABD68D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D3C27-E803-4E09-B2AC-0820BC8A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6B499-1836-4E7C-9DE3-77B267DC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295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ملخص المشروع قيد الاستكمال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022FB-9D50-49C1-B227-57FF1DA5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123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ذكرت صاحبة VOXEL المشروع ضمن سابقة الأعمال.</a:t>
            </a:r>
          </a:p>
          <a:p xmlns:a="http://schemas.openxmlformats.org/drawingml/2006/main">
            <a:pPr algn="r" rtl="1">
              <a:def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سيُضاف نطاق الخطة والمخرجات الفعلية بعد استلام تفاصيلها.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83F7C-00F9-44DA-91EB-B0506D94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لم تُرفق الخطة الأصلية أو نتائج موثّقة بعد. هذه الشريحة لا تنسب أعمالًا أو نتائج غير مؤكدة.</a:t>
            </a:r>
          </a:p>
        </p:txBody>
      </p:sp>
    </p:spTree>
    <p:extLst>
      <p:ext uri="{BB962C8B-B14F-4D97-AF65-F5344CB8AC3E}">
        <p14:creationId xmlns:p14="http://schemas.microsoft.com/office/powerpoint/2010/main" val="20686415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E322E-2C29-4599-8A84-3373018C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صيغ التعاون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FFCC9-2DFD-40EA-B33C-956740A0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6366F-3932-4BBE-86CE-1929BA1A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1AB3F-99F8-4C07-AB2D-95807C6CCC50}"/>
              </a:ext>
            </a:extLst>
          </p:cNvPr>
          <p:cNvGraphicFramePr/>
          <p:nvPr/>
        </p:nvGraphicFramePr>
        <p:xfrm>
          <a:off xmlns:a="http://schemas.openxmlformats.org/drawingml/2006/main" x="904875" y="2428875"/>
          <a:ext xmlns:a="http://schemas.openxmlformats.org/drawingml/2006/main" cx="134302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4286250"/>
                <a:gridCol w="3048000"/>
              </a:tblGrid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ما يتسلّمه العميل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مناسب لـ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الصيغة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T w="28575">
                      <a:solidFill>
                        <a:srgbClr val="F7F8F8"/>
                      </a:solidFill>
                      <a:prstDash val="solid"/>
                    </a:lnT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073858"/>
                    </a:solidFill>
                  </a:tcPr>
                </a:tc>
              </a:tr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تدقيق وخريطة سوق وتمركز وخطة تنفيذ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شركة تحتاج تحديد أولوياتها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مشروع استراتيجي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محتوى وحملات وتقارير حسب النطاق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شركة لديها عرض جاهز وفريق متابعة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تشغيل شهري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E5F2F2"/>
                    </a:solidFill>
                  </a:tcPr>
                </a:tc>
              </a:tr>
              <a:tr h="1047750"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اختبار محدود ورسالة وقناة وقياس</a:t>
                      </a:r>
                    </a:p>
                  </a:txBody>
                  <a:tcPr marL="91440" marR="91440" marT="45720" marB="45720" anchor="ctr">
                    <a:lnL w="28575">
                      <a:solidFill>
                        <a:srgbClr val="F7F8F8"/>
                      </a:solidFill>
                      <a:prstDash val="solid"/>
                    </a:lnL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شركة تختبر خدمة أو سوقًا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r" rtl="1"/>
                      <a:r>
                        <a:rPr sz="1800" b="0">
                          <a:solidFill>
                            <a:srgbClr val="1637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حملة تجريبية</a:t>
                      </a:r>
                    </a:p>
                  </a:txBody>
                  <a:tcPr marL="91440" marR="91440" marT="45720" marB="45720" anchor="ctr">
                    <a:lnR w="28575">
                      <a:solidFill>
                        <a:srgbClr val="F7F8F8"/>
                      </a:solidFill>
                      <a:prstDash val="solid"/>
                    </a:lnR>
                    <a:lnB w="28575">
                      <a:solidFill>
                        <a:srgbClr val="F7F8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1C88F-E37D-4620-88EA-0C73E8F0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تُحدّد الأتعاب بعد جلسة الاحتياج. ميزانية الإعلان والتصوير والتطوير الخارجي بنود مستقلة عند الحاجة.</a:t>
            </a:r>
          </a:p>
        </p:txBody>
      </p:sp>
    </p:spTree>
    <p:extLst>
      <p:ext uri="{BB962C8B-B14F-4D97-AF65-F5344CB8AC3E}">
        <p14:creationId xmlns:p14="http://schemas.microsoft.com/office/powerpoint/2010/main" val="13476712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38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FA31A-64C4-4444-A75A-4996EC6D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بداية التعاون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7474A-DFC9-4498-A06A-29C5F14A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49E0F-23AD-4959-8B2F-06F72E52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93376-ED33-4AEE-9639-15A640A8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14625"/>
            <a:ext cx="1257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نبدأ بفهم مشروعك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AB518-82E1-49E7-BF77-D726769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1257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نراجع النشاط والجمهور والأهداف والموارد المتاحة.</a:t>
            </a:r>
          </a:p>
          <a:p xmlns:a="http://schemas.openxmlformats.org/drawingml/2006/main">
            <a:pPr algn="r" rtl="1">
              <a:def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BEE1E5"/>
                </a:solidFill>
                <a:latin typeface="DejaVu Sans"/>
                <a:ea typeface="DejaVu Sans"/>
                <a:cs typeface="DejaVu Sans"/>
              </a:rPr>
              <a:t>ثم نقدّم نطاق عمل واضحًا ومخرجات وجدولًا وتكلفة.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EA03B-FA3A-4496-A15E-EF233F9D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524625"/>
            <a:ext cx="1257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8A14"/>
                </a:solidFill>
                <a:latin typeface="DejaVu Sans"/>
                <a:ea typeface="DejaVu Sans"/>
                <a:cs typeface="DejaVu Sans"/>
              </a:rPr>
              <a:t>الخطوة التالية: جلسة اكتشاف وتحديد الاحتياج</a:t>
            </a:r>
          </a:p>
        </p:txBody>
      </p:sp>
    </p:spTree>
    <p:extLst>
      <p:ext uri="{BB962C8B-B14F-4D97-AF65-F5344CB8AC3E}">
        <p14:creationId xmlns:p14="http://schemas.microsoft.com/office/powerpoint/2010/main" val="8004907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F4501-D5BE-47A7-B0EA-F1916276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المصادر وحدود البيانات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1E99F-70A4-4307-911A-4664577E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53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38C53-62F6-4F9E-8940-F6B66E1C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8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3858"/>
                </a:solidFill>
                <a:latin typeface="DejaVu Sans"/>
                <a:ea typeface="DejaVu Sans"/>
                <a:cs typeface="DejaVu Sans"/>
              </a:rPr>
              <a:t>VOXEL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A88F4-2807-47D1-8828-94B12BCA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19DA5"/>
                </a:solidFill>
                <a:latin typeface="DejaVu Sans"/>
                <a:ea typeface="DejaVu Sans"/>
                <a:cs typeface="DejaVu Sans"/>
              </a:rPr>
              <a:t>مصادر العرض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F0272-B2EE-4967-B96D-86293A7C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13335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وصف الشركة والشعار واسم Space Arch: مقدمة من صاحبة VOXEL.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خطة ACP الأصلية: أكتوبر ٢٠٢٦، ملف من ٢٤ شريحة.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DataReportal: Digital 2026: Egypt، بيانات أكتوبر ٢٠٢٥.</a:t>
            </a:r>
          </a:p>
          <a:p xmlns:a="http://schemas.openxmlformats.org/drawingml/2006/main">
            <a:pPr algn="r" rtl="1">
              <a:def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748"/>
                </a:solidFill>
                <a:latin typeface="DejaVu Sans"/>
                <a:ea typeface="DejaVu Sans"/>
                <a:cs typeface="DejaVu Sans"/>
              </a:rPr>
              <a:t>مواقع Road9 Media وeMarketing Egypt وIconve: خدمات معلنة.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269AD-2BCD-43B8-9E9C-0BAEEE00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333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5717E"/>
                </a:solidFill>
                <a:latin typeface="DejaVu Sans"/>
                <a:ea typeface="DejaVu Sans"/>
                <a:cs typeface="DejaVu Sans"/>
              </a:rPr>
              <a:t>التحليلات والتمركز والميزانية وخطة VOXEL توصيات تأسيسية. أرقام السوق سياقية، ونتائج الحملات غير متاحة. صورة المكتب توضيحية مولّدة بالذكاء الاصطناعي.</a:t>
            </a:r>
          </a:p>
        </p:txBody>
      </p:sp>
    </p:spTree>
    <p:extLst>
      <p:ext uri="{BB962C8B-B14F-4D97-AF65-F5344CB8AC3E}">
        <p14:creationId xmlns:p14="http://schemas.microsoft.com/office/powerpoint/2010/main" val="585816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2026-10-27T17:39:29.1490000Z</dcterms:created>
  <dcterms:modified xsi:type="dcterms:W3CDTF">2026-10-27T17:39:29.1490000Z</dcterms:modified>
</coreProperties>
</file>